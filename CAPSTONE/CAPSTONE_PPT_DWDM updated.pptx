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4" r:id="rId1"/>
  </p:sldMasterIdLst>
  <p:sldIdLst>
    <p:sldId id="256" r:id="rId2"/>
    <p:sldId id="277" r:id="rId3"/>
    <p:sldId id="278" r:id="rId4"/>
    <p:sldId id="261" r:id="rId5"/>
    <p:sldId id="280" r:id="rId6"/>
    <p:sldId id="288" r:id="rId7"/>
    <p:sldId id="289" r:id="rId8"/>
    <p:sldId id="273" r:id="rId9"/>
    <p:sldId id="274" r:id="rId10"/>
    <p:sldId id="281" r:id="rId11"/>
    <p:sldId id="284" r:id="rId12"/>
    <p:sldId id="287" r:id="rId13"/>
    <p:sldId id="269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5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72" y="44"/>
      </p:cViewPr>
      <p:guideLst>
        <p:guide orient="horz" pos="285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AD35A-AB9A-5216-1045-F75C0DCAD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DB42F-0504-F752-3443-C3DE7E0FF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C6A48-3018-19D6-EA79-56899683D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E0234-848E-0995-0176-B660DAC63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25041-4820-7CCA-4136-86A2DA76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255332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68F3-CC65-3A41-9BCB-FF776462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DE1F7-AD67-7572-AF73-BC9ECB7C0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C6C75-E74C-53EB-E6D2-EF347F771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591C4-14FE-0E14-2D50-2BD1B83BE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2482A-AFE4-1122-C111-0C8BD249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89315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B083-DD58-DA81-83CE-61F213761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8C9F6-5B10-7882-2A08-C23C3DD38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5307D-15FF-76BB-ED3D-2FB98275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311C-F4A9-C497-7ACA-BB4812F34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5CF7E-90AD-6E51-92C8-2F2E4D8F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61018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15F7-EE1B-2EF3-AAD0-FA96928C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87B08-FCAC-24C4-2984-85D38D3B8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35184-824F-5EC0-FD9D-359D34E53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7A541-0759-3CE8-048F-F74113D6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0AB8C-2B7C-FC6C-8A20-0AD2018B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9C6A5-5436-01AA-D79A-88A0E345F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9864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E6DA-D217-5CB5-1D7C-31FD9D796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6CE21-42F9-B0CB-6E87-05F0A0BF5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9B0A1-0A97-FD72-CB3F-15120F109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A52ED-9BEB-20BF-A0EE-FD887C9BD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B71BFD-995C-D2C4-8281-55B9C9EE6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D8CC0-054C-1A36-1549-55979D2C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DA0201-D4AB-A5A2-A83F-8791E04E0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E4516C-8501-27E4-CA3E-206C18032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63081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D3323-7F23-9A6B-6C0B-B62046376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0085AC-CFD5-431D-FEDF-67BCCFCE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E877E-5480-A669-E62E-30FED96E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EA3F7B-ABC2-C9D3-ADA1-466D3660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761505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7ACF9-4C8A-255D-E772-969ACA2C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BB491-12EE-AE3F-69C9-F0404F36A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0CC29-F404-0C49-616F-1259C976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32079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F5FC1-412C-7BA4-A81D-1C2818EC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98602-EB15-806B-2883-241497B51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DDF10-72BB-6740-4F4B-8764C27C8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0D4C3-E368-0F0C-B23D-9F87BFB5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4C8A0-324A-4D05-C3DC-F721090FD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0C437-1A8A-3525-CC80-6C9BB9F9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20028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04293-F015-FD9F-FC03-81D958E9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C2BD6D-C34A-783D-5A2E-283F9B712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C2A82-7E06-4BA2-065D-4D54308B4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F84D1-67EB-8B50-9C61-166AFDAE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83276-5DCB-CFBD-1BAC-E5F1ADE6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3C2BF-324A-F6F6-D9A7-585CDAB1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40573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2993-291F-C3BD-7B23-9B9E101F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1052F-A61E-9F4B-A640-50CA785D2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F9F8F-A794-E6B1-6FD3-00954081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52B6E-FCA6-1AAA-604D-00D6F4A3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04A55-4089-FFFA-4D11-CBBFA550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806323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D9D98F-2133-03EC-0E88-2FBFA40F8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502FB-1353-8422-03D7-E53C26C30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E3F41-AF81-8F4E-7625-A6405A033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705F3-28CF-F94E-0B3A-964F0A16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1707E-584B-7FDA-DD45-FBBAADD70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570378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85E5C-28FE-67E3-9E2C-D6855169D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06C1B-9769-9F75-339E-34210FFD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4F11-AE32-C51F-67BA-EBA086952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02A4A-6E58-C5D7-50ED-E58BCF501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EEA1306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6C0DE-64CD-E750-2623-E0350D1A8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985209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hyperlink" Target="https://scikit-learn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pandas.pydata.org/" TargetMode="External"/><Relationship Id="rId5" Type="http://schemas.openxmlformats.org/officeDocument/2006/relationships/hyperlink" Target="https://www.oracle.com/retail/" TargetMode="External"/><Relationship Id="rId4" Type="http://schemas.openxmlformats.org/officeDocument/2006/relationships/hyperlink" Target="https://www.ibm.com/analytic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1086" y="399034"/>
            <a:ext cx="4031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7654" y="914526"/>
            <a:ext cx="7479665" cy="307904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SAVEETHA</a:t>
            </a:r>
            <a:r>
              <a:rPr sz="20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sz="2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SCIENCES</a:t>
            </a:r>
            <a:endParaRPr lang="en-US" sz="2000" b="1" spc="-10" dirty="0">
              <a:latin typeface="Times New Roman" panose="02020603050405020304"/>
              <a:cs typeface="Times New Roman" panose="02020603050405020304"/>
            </a:endParaRPr>
          </a:p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endParaRPr lang="en-US" sz="2000" b="1" spc="-10" dirty="0">
              <a:latin typeface="Times New Roman" panose="02020603050405020304"/>
              <a:cs typeface="Times New Roman" panose="02020603050405020304"/>
            </a:endParaRPr>
          </a:p>
          <a:p>
            <a:pPr marL="760730" marR="1572895" algn="ctr">
              <a:lnSpc>
                <a:spcPts val="2390"/>
              </a:lnSpc>
              <a:spcBef>
                <a:spcPts val="190"/>
              </a:spcBef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endParaRPr sz="2400" b="1" i="1" dirty="0">
              <a:latin typeface="Times New Roman" panose="02020603050405020304"/>
              <a:cs typeface="Times New Roman" panose="02020603050405020304"/>
            </a:endParaRP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Sales Analysis and Demand Forecasting Using Data Warehousing and Data Mining</a:t>
            </a:r>
          </a:p>
          <a:p>
            <a:pPr marL="9525" algn="ctr">
              <a:lnSpc>
                <a:spcPct val="100000"/>
              </a:lnSpc>
              <a:tabLst>
                <a:tab pos="1059815" algn="l"/>
              </a:tabLst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ts val="2080"/>
              </a:lnSpc>
              <a:spcBef>
                <a:spcPts val="210"/>
              </a:spcBef>
            </a:pPr>
            <a:r>
              <a:rPr lang="en-US" sz="1800" b="1" dirty="0">
                <a:latin typeface="Times New Roman" panose="02020603050405020304"/>
                <a:cs typeface="Times New Roman" panose="02020603050405020304"/>
              </a:rPr>
              <a:t>CSA1606–</a:t>
            </a:r>
            <a:r>
              <a:rPr lang="en-US" sz="1800" b="1" spc="-40" dirty="0">
                <a:latin typeface="Times New Roman" panose="02020603050405020304"/>
                <a:cs typeface="Times New Roman" panose="02020603050405020304"/>
              </a:rPr>
              <a:t> Data warehousing and Data Mining </a:t>
            </a:r>
            <a:endParaRPr lang="en-US"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588" y="4909566"/>
            <a:ext cx="243967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sz="26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dirty="0" err="1">
                <a:latin typeface="Times New Roman" panose="02020603050405020304"/>
                <a:cs typeface="Times New Roman" panose="02020603050405020304"/>
              </a:rPr>
              <a:t>Dr.</a:t>
            </a:r>
            <a:r>
              <a:rPr lang="en-US" sz="2400" spc="-95" dirty="0" err="1">
                <a:latin typeface="Times New Roman" panose="02020603050405020304"/>
                <a:cs typeface="Times New Roman" panose="02020603050405020304"/>
              </a:rPr>
              <a:t>S.Renuga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77000" y="4859872"/>
            <a:ext cx="5313680" cy="1327928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sz="2400" b="1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400" b="1" spc="-4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by:</a:t>
            </a:r>
            <a:endParaRPr lang="en-IN" sz="2400" b="1" spc="-25" dirty="0">
              <a:solidFill>
                <a:srgbClr val="0C0C0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69545">
              <a:lnSpc>
                <a:spcPct val="100000"/>
              </a:lnSpc>
              <a:spcBef>
                <a:spcPts val="615"/>
              </a:spcBef>
            </a:pPr>
            <a:r>
              <a:rPr lang="en-IN" sz="2400" spc="-25" dirty="0" err="1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P.Sudharshan</a:t>
            </a:r>
            <a:r>
              <a:rPr lang="en-IN" sz="2400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Reddy(192372204)</a:t>
            </a:r>
            <a:endParaRPr lang="en-IN"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lang="en-IN" altLang="" sz="2400" spc="-1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 Y.Vamsi Babu (192311145)</a:t>
            </a:r>
            <a:endParaRPr lang="en-IN" altLang="" sz="24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255" y="475615"/>
            <a:ext cx="1134694" cy="13423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7555" y="328929"/>
            <a:ext cx="1519554" cy="1342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CA999-99B7-2FE8-6C25-97AD090F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60A6-D2D8-2993-B679-D7E0BE41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564" y="284778"/>
            <a:ext cx="8610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97EA35E-100E-1178-A927-7B42845DCB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359204"/>
            <a:ext cx="10820400" cy="4160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Sales Analysis helps businesses analyze historical sales data to understand sales performance, customer behavior, product demand, and regional trends. 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and Data Mining are used to organize large volumes of retail data and extract meaningful patterns and insights for effective business analysis. 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Demand Forecasting is applied to predict future sales and demand by learning from historical sales patterns and trends.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data-driven decision support through analytical insights and Power BI visualizations, helping businesses optimize inventory, improve planning, and increase profitability. </a:t>
            </a:r>
          </a:p>
          <a:p>
            <a:pPr lvl="0">
              <a:lnSpc>
                <a:spcPct val="150000"/>
              </a:lnSpc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449C845-4769-92E9-1C53-9C6D3CC365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F8D0D44-0BB7-5862-9825-66FA2735AE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6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E1E04-067A-2EAD-F193-4CE32727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7FA0-CF3F-0856-835E-00EF62E6E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8474"/>
            <a:ext cx="8610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47BB4C0-1928-BB69-D28C-C8BA66A85D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8752" y="1775316"/>
            <a:ext cx="7080248" cy="5542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lvl="0"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Sales Analysis helps businesses understand sales performance, customer purchasing behavior, and product demand using historical sales data. </a:t>
            </a:r>
          </a:p>
          <a:p>
            <a:pPr marL="457200" lvl="0"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predicts future product demand based on historical sales patterns, supporting better planning and decision-making. </a:t>
            </a:r>
          </a:p>
          <a:p>
            <a:pPr marL="457200" lvl="0"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forecasting helps maintain optimal inventory levels by reducing stockouts and excess inventory. </a:t>
            </a:r>
          </a:p>
          <a:p>
            <a:pPr marL="457200" lvl="0" indent="-4572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enables data-driven decisions, improves operational efficiency, enhances customer satisfaction, and increases profitability.</a:t>
            </a:r>
          </a:p>
          <a:p>
            <a:pPr lvl="0">
              <a:lnSpc>
                <a:spcPct val="150000"/>
              </a:lnSpc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5F2D6AF-0305-AF8E-7CA2-1CF9D956C40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92C204A8-47DA-1B6C-459D-D991369056C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184B58-7A48-4BE2-9EB4-DFA31D0468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1762485"/>
            <a:ext cx="4648200" cy="425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7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451641"/>
            <a:ext cx="10515600" cy="821378"/>
          </a:xfrm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40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CF044283-97EB-C064-2B20-5CDB1B936EE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6200" y="2012541"/>
            <a:ext cx="7010400" cy="45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businesses generate large volumes of sales data, but it is not effectively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business decisions.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Inaccurate demand forecasting leads to stock shortages or excess inventory, increasing operational costs and reducing sales.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forecasting methods fail to accurately capture changing customer preferences, seasonal trends, and market demand.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Retail Sales Analysis and Demand Forecasting system is needed to predict future demand, improve inventory management, and enhance overall business profitability. 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362B6C-EE76-3911-C77E-151F77DA84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527" y="2133600"/>
            <a:ext cx="49149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A45E-8518-8D2B-A03F-D1760E02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9E1C84-F5DA-DFCA-3D5D-A09C83118F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200" y="258634"/>
            <a:ext cx="10515600" cy="821378"/>
          </a:xfrm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lang="en-US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20C30A5-C0C5-F08D-99DA-0B53DDE28B5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EB353AE-B841-4DAE-970D-30FEF0A3BB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651C691E-FEF9-70EF-9D0D-CA7B8FC65B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542CD3-1EEE-735E-738E-82AE7E26BC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760100"/>
            <a:ext cx="9982200" cy="499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57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4A58-C65F-74E2-904A-60A4130DC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0317E2-764A-F19F-4D24-F18F1FD1AE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258634"/>
            <a:ext cx="10515600" cy="821378"/>
          </a:xfrm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lang="en-IN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AE69DB8-F799-9278-20F4-3EFE278F3FE1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355289D-BCE9-9E56-3E63-93B253AE6EC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52480289-09E1-B3FC-683F-FF4C638123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026A8F-F579-6C87-340B-82E2D26092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" t="1600" r="6185"/>
          <a:stretch>
            <a:fillRect/>
          </a:stretch>
        </p:blipFill>
        <p:spPr>
          <a:xfrm>
            <a:off x="1243301" y="1599184"/>
            <a:ext cx="9705397" cy="475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8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8DC970-F2CD-C2B5-B3FC-869E17D12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241782"/>
              </p:ext>
            </p:extLst>
          </p:nvPr>
        </p:nvGraphicFramePr>
        <p:xfrm>
          <a:off x="356870" y="1637665"/>
          <a:ext cx="11377930" cy="4811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048">
                  <a:extLst>
                    <a:ext uri="{9D8B030D-6E8A-4147-A177-3AD203B41FA5}">
                      <a16:colId xmlns:a16="http://schemas.microsoft.com/office/drawing/2014/main" val="2208808305"/>
                    </a:ext>
                  </a:extLst>
                </a:gridCol>
                <a:gridCol w="2523571">
                  <a:extLst>
                    <a:ext uri="{9D8B030D-6E8A-4147-A177-3AD203B41FA5}">
                      <a16:colId xmlns:a16="http://schemas.microsoft.com/office/drawing/2014/main" val="3966154196"/>
                    </a:ext>
                  </a:extLst>
                </a:gridCol>
                <a:gridCol w="4714828">
                  <a:extLst>
                    <a:ext uri="{9D8B030D-6E8A-4147-A177-3AD203B41FA5}">
                      <a16:colId xmlns:a16="http://schemas.microsoft.com/office/drawing/2014/main" val="274203267"/>
                    </a:ext>
                  </a:extLst>
                </a:gridCol>
                <a:gridCol w="2844483">
                  <a:extLst>
                    <a:ext uri="{9D8B030D-6E8A-4147-A177-3AD203B41FA5}">
                      <a16:colId xmlns:a16="http://schemas.microsoft.com/office/drawing/2014/main" val="1663177281"/>
                    </a:ext>
                  </a:extLst>
                </a:gridCol>
              </a:tblGrid>
              <a:tr h="273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163625"/>
                  </a:ext>
                </a:extLst>
              </a:tr>
              <a:tr h="71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Retail Sales Forecasting Using Machine Learning Techniques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 historical retail sales data and apply machine learning techniques to predict future sales and identify important sales patterns.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Forecasting accuracy depends heavily on the quality, completeness.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339177"/>
                  </a:ext>
                </a:extLst>
              </a:tr>
              <a:tr h="704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Mining Techniques for Retail Sales Analysis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data mining techniques to discover hidden patterns, customer purchasing behavior, product relationships, and sales trends from retail datasets.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and complex datasets may require significant preprocessing,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807868"/>
                  </a:ext>
                </a:extLst>
              </a:tr>
              <a:tr h="1038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Warehouse-Based Business Intelligence for Retail Analytics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 centralized data warehouse to integrate retail sales information and support multidimensional analysis of products, customers, locations, and time periods.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integration from multiple sources can be complex, and maintaining an updated data warehouse requires considerable time and resources.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09688"/>
                  </a:ext>
                </a:extLst>
              </a:tr>
              <a:tr h="847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Learning-Based Demand Forecasting in Retail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machine learning models for predicting product demand using historical sales, seasonal trends, product information, and other relevant factors.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performance may decrease when market conditions, customer preferences.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483792"/>
                  </a:ext>
                </a:extLst>
              </a:tr>
              <a:tr h="1038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Retail Analytics Using Data Mining and Business Intelligence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 data mining, data warehousing, and business intelligence techniques to analyze retail performance and provide data-driven decision support through dashboards.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effectiveness of the integrated system depends on data quality, appropriate algorithm selection,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421733"/>
                  </a:ext>
                </a:extLst>
              </a:tr>
            </a:tbl>
          </a:graphicData>
        </a:graphic>
      </p:graphicFrame>
      <p:pic>
        <p:nvPicPr>
          <p:cNvPr id="4" name="object 3">
            <a:extLst>
              <a:ext uri="{FF2B5EF4-FFF2-40B4-BE49-F238E27FC236}">
                <a16:creationId xmlns:a16="http://schemas.microsoft.com/office/drawing/2014/main" id="{FD00B622-07DC-774C-ABE4-94B63282400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43DD63-E91E-0D29-90CA-E738570EC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0533"/>
            <a:ext cx="1518036" cy="1347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EB12FD-A98C-C474-FBDC-33BABE43537C}"/>
              </a:ext>
            </a:extLst>
          </p:cNvPr>
          <p:cNvSpPr txBox="1"/>
          <p:nvPr/>
        </p:nvSpPr>
        <p:spPr>
          <a:xfrm>
            <a:off x="3505200" y="444270"/>
            <a:ext cx="685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816389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33400"/>
            <a:ext cx="8610600" cy="1325563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Warehousing &amp; Business Intelligence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05629" y="1986409"/>
            <a:ext cx="7085772" cy="483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retail sales data from POS systems, online stores, customer transactions, and inventory databases. 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validate, and integrate the collected data into a centralized Data Warehouse to ensure accuracy and consistency. 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 using Business Intelligence (BI) techniques to identify sales trends, customer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product performance. 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structured data for the Retail Sales Analysis and Demand Forecasting module to support accurate sales predictions and better business decision-making.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2088C7B-CAEB-97CA-B317-D13F79289D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DD40B100-D3B7-718B-29E1-C61C4B3B68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250A31-7BAD-B158-3F8F-8FF4B1BC2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2057400"/>
            <a:ext cx="396157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4911" y="381000"/>
            <a:ext cx="8795435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&amp; Sales Forecasting</a:t>
            </a:r>
            <a:b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04800" y="1600200"/>
            <a:ext cx="6096001" cy="551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cleaned retail sales data from the Data Warehousing &amp; Business Intelligence module for analysis and forecasting. 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Data Mining techniques to identify customer purchasing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product demand, and seasonal sales trends. 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and statistical forecasting algorithms to accurately predict future sales demand. 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demand forecasts that help optimize inventory management, improve sales planning, reduce stock shortages, and support better business decision-making.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F64864FD-F7D5-3CA2-F1EB-C81F6CA8FB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E0ECDDDE-4780-4F79-9174-8809228540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144E36-D90E-71FD-C2A7-F0594AD9B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908" y="1706562"/>
            <a:ext cx="4955892" cy="47704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D4A69-2106-B724-5212-E5134105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A562B9-8D9A-97D5-4B6E-AAC056AC73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7400" y="235184"/>
            <a:ext cx="10896600" cy="821378"/>
          </a:xfrm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>
              <a:lnSpc>
                <a:spcPct val="100000"/>
              </a:lnSpc>
              <a:spcBef>
                <a:spcPts val="105"/>
              </a:spcBef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IN" sz="4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4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5B3AC36-3291-484C-6087-846719D4238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3F4EC4E-CDCE-292C-E814-E760DCF0B5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D65BD91E-CBA7-D3F2-F8C2-15BBB87977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4FCB94-BD08-D232-4BDF-CACB17A50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533525"/>
            <a:ext cx="4426883" cy="2396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995A43-2005-0806-1979-F49C2B41E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1524930"/>
            <a:ext cx="5105400" cy="22480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AA3D12-31C2-3625-2D63-2F570FC2E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399" y="4114800"/>
            <a:ext cx="4503083" cy="2438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9FA7E0-4DF6-1BDB-334E-90391F60A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3825121"/>
            <a:ext cx="5265716" cy="281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17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147FF-5B81-7617-3A8A-4CDA1A47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BF55FC-828C-413B-3216-1F50B614B4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600" y="470106"/>
            <a:ext cx="7924800" cy="821378"/>
          </a:xfrm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 algn="ctr">
              <a:lnSpc>
                <a:spcPct val="100000"/>
              </a:lnSpc>
              <a:spcBef>
                <a:spcPts val="105"/>
              </a:spcBef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40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E177745-DEC6-4A32-3CAD-6DFADBDE5F8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511DCAC-C842-D453-0964-5634456ADD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627073CE-5D2A-2448-888D-C7502EA562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2067D70-F8E1-9456-AC06-048484AB54F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6870" y="1964940"/>
            <a:ext cx="11658600" cy="521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effectively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sales data to identify sales trends, customer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product performance.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demand forecasting model accurately predicts future product demand, helping retailers improve inventory management and reduce stock shortages.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valuable insights that support better pricing, marketing, and sales planning decisions.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improves operational efficiency, enhances customer satisfaction, and increases business profitability through data-driven decision-making.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740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4558-C4DE-3529-748F-CDA2D6CA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581800-5EEE-0E80-B4B9-5C7CA722D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88282" y="451641"/>
            <a:ext cx="12192000" cy="821378"/>
          </a:xfrm>
          <a:prstGeom prst="rect">
            <a:avLst/>
          </a:prstGeom>
        </p:spPr>
        <p:txBody>
          <a:bodyPr vert="horz" wrap="square" lIns="0" tIns="203834" rIns="0" bIns="0" rtlCol="0">
            <a:spAutoFit/>
          </a:bodyPr>
          <a:lstStyle/>
          <a:p>
            <a:pPr marL="1400175" algn="ctr">
              <a:lnSpc>
                <a:spcPct val="100000"/>
              </a:lnSpc>
              <a:spcBef>
                <a:spcPts val="105"/>
              </a:spcBef>
            </a:pPr>
            <a:r>
              <a:rPr lang="en-IN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E4836C6-0366-4A62-12B9-7B7DD9831D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C5D442C1-26F5-3EFC-2BBC-BBAA15FA57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45AEDBE-FA34-A0A3-BC8A-8CC56758B72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6870" y="1908607"/>
            <a:ext cx="11658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Makridakis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Spiliotis, E., &amp;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Assimakopoulos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(2022).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M5 Accuracy Competition: Results, Findings, and Conclusions.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Forecasting, 38(4), 1346–1364.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Hyndman, R. J., &amp; Athanasopoulos, G. (2023).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Forecasting: Principles and Practice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Edition).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OTexts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Melbourne, Australia.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Chollet, F. (2023).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with Python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(2nd Edition). Manning Publications.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Corporation. (2024).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Business Analytics and Demand Forecasting Solutions.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at: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https://www.ibm.com/analytics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Corporation. (2024).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Documentation – Retail Sales Analytics.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at: https://learn.microsoft.com/power-bi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Corporation. (2024).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Retail Demand Forecasting and Inventory Management.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at: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https://www.oracle.com/retail/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Development Team. (2025).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Documentation.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at: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https://pandas.pydata.org/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Developers. (2025).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 Machine Learning in Python.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at: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https://scikit-learn.org/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146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01015"/>
            <a:ext cx="1135773" cy="1343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2209" y="393700"/>
            <a:ext cx="1527809" cy="13491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5954" y="2056129"/>
            <a:ext cx="7806182" cy="370649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632</TotalTime>
  <Words>1014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SIMATS ENGINEERING</vt:lpstr>
      <vt:lpstr>Abstract </vt:lpstr>
      <vt:lpstr>Introduction</vt:lpstr>
      <vt:lpstr>Problem Statement</vt:lpstr>
      <vt:lpstr>System Architecture</vt:lpstr>
      <vt:lpstr>Technologies Used</vt:lpstr>
      <vt:lpstr>PowerPoint Presentation</vt:lpstr>
      <vt:lpstr>Module 1: Data Warehousing &amp; Business Intelligence </vt:lpstr>
      <vt:lpstr>Module 2: Data Mining &amp; Sales Forecasting </vt:lpstr>
      <vt:lpstr>Results &amp; Discussion</vt:lpstr>
      <vt:lpstr>Conclusion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BASKARAN S</dc:creator>
  <cp:lastModifiedBy>SUDHARSHAN REDDY PANGA</cp:lastModifiedBy>
  <cp:revision>13</cp:revision>
  <dcterms:created xsi:type="dcterms:W3CDTF">2026-01-09T01:43:09Z</dcterms:created>
  <dcterms:modified xsi:type="dcterms:W3CDTF">2026-08-20T06:14:49Z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2025-11-27T05:30:00Z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2026-01-09T05:30:00Z</vt:filetime>
  </property>
  <property fmtid="{D5CDD505-2E9C-101B-9397-08002B2CF9AE}" pid="5" name="Producer">
    <vt:lpwstr>Microsoft® Word 2019</vt:lpwstr>
  </property>
  <property fmtid="{D5CDD505-2E9C-101B-9397-08002B2CF9AE}" pid="6" name="ICV">
    <vt:lpwstr>D2C67E8E397C4C73BF307D1014DD8300_12</vt:lpwstr>
  </property>
  <property fmtid="{D5CDD505-2E9C-101B-9397-08002B2CF9AE}" pid="7" name="KSOProductBuildVer">
    <vt:lpwstr>1033-12.2.0.23196</vt:lpwstr>
  </property>
</Properties>
</file>