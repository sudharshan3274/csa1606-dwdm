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00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743200" cy="2743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12064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wproj/icons/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73883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 • ETL Pipelines • Data Marts • Decision Intelligence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Presentation  |  Topic 3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70F4A-2B1D-D5F5-320A-43D7E52F68CF}"/>
              </a:ext>
            </a:extLst>
          </p:cNvPr>
          <p:cNvSpPr txBox="1"/>
          <p:nvPr/>
        </p:nvSpPr>
        <p:spPr>
          <a:xfrm>
            <a:off x="7126939" y="5580529"/>
            <a:ext cx="4253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Presented By:</a:t>
            </a:r>
            <a:br>
              <a:rPr lang="en-US" dirty="0">
                <a:solidFill>
                  <a:srgbClr val="FFC000"/>
                </a:solidFill>
              </a:rPr>
            </a:br>
            <a:r>
              <a:rPr lang="en-US" dirty="0">
                <a:solidFill>
                  <a:srgbClr val="FFC000"/>
                </a:solidFill>
              </a:rPr>
              <a:t>P </a:t>
            </a:r>
            <a:r>
              <a:rPr lang="en-US" dirty="0" err="1">
                <a:solidFill>
                  <a:srgbClr val="FFC000"/>
                </a:solidFill>
              </a:rPr>
              <a:t>Sudharshan</a:t>
            </a:r>
            <a:r>
              <a:rPr lang="en-US" dirty="0">
                <a:solidFill>
                  <a:srgbClr val="FFC000"/>
                </a:solidFill>
              </a:rPr>
              <a:t> Reddy(192372204)</a:t>
            </a:r>
          </a:p>
          <a:p>
            <a:r>
              <a:rPr lang="en-US" dirty="0">
                <a:solidFill>
                  <a:srgbClr val="FFC000"/>
                </a:solidFill>
              </a:rPr>
              <a:t>Y Vamsi Babu(192311145)</a:t>
            </a:r>
          </a:p>
          <a:p>
            <a:r>
              <a:rPr lang="en-US" dirty="0">
                <a:solidFill>
                  <a:srgbClr val="FFC000"/>
                </a:solidFill>
              </a:rPr>
              <a:t>Ch Rohith(192525453)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202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dwproj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9" y="201350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013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216712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a data warehouse and why it matters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9202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/home/claude/dwproj/icons/lay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949" y="2013509"/>
            <a:ext cx="590702" cy="590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8013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543800" y="216712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characteristics with visual explanation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6576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dwproj/icons/site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9" y="3750869"/>
            <a:ext cx="590702" cy="5907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35387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37360" y="390448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structure, step by step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5508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36576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/home/claude/dwproj/icons/sync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949" y="3750869"/>
            <a:ext cx="590702" cy="5907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35387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Process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543800" y="390448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becomes analysis-ready information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074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77240" y="53949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/home/claude/dwproj/icons/cube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9" y="5488229"/>
            <a:ext cx="590702" cy="59070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5276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Marts &amp; Metadata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737360" y="56418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subsets and the “data about data” layer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355080" y="50749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83680" y="53949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5" descr="/home/claude/dwproj/icons/char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949" y="5488229"/>
            <a:ext cx="590702" cy="59070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3800" y="5276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7543800" y="564184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study, BI tooling, and future scope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importance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wproj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190561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 Warehouse?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repository that stores integrated data from multiple sources, organized for query and analysis rather than day-to-day transactions.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C39A"/>
                </a:solidFill>
              </a:rPr>
              <a:t>“A subject-oriented, integrated, time-variant, and non-volatile collection of data in support of management’s decisions.”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W. H. Inmon, widely credited as the father of the data warehouse concept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2" name="Image 1" descr="/home/claude/dwproj/icons/chart_065A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637" y="162031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536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view of the business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132320" y="18745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sales, finance, and operations data into one consistent source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2606040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16" name="Image 2" descr="/home/claude/dwproj/icons/bulb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637" y="267187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25877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informed decisions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132320" y="2926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 surface patterns invisible in day-to-day systems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0" y="3657600"/>
            <a:ext cx="548640" cy="54864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20" name="Image 3" descr="/home/claude/dwproj/icons/check_065A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637" y="3723437"/>
            <a:ext cx="416966" cy="4169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3639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reporting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132320" y="39776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version of the truth reduces conflicting numbers across teams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0" y="4709160"/>
            <a:ext cx="525780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00800" y="4892040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operational databases (OLTP) are built for speed on single transactions — not for analyzing years of history across departments. A data warehouse fills that gap.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Core Concepts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defining characteristics (Inmon’s model)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749040"/>
          </a:xfrm>
          <a:prstGeom prst="roundRect">
            <a:avLst>
              <a:gd name="adj" fmla="val 310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wproj/icons/layers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95" y="211043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Subject-Oriented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around key business subjects — sales, customers, products — rather than around applications.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7288" y="1691640"/>
            <a:ext cx="2651760" cy="3749040"/>
          </a:xfrm>
          <a:prstGeom prst="roundRect">
            <a:avLst>
              <a:gd name="adj" fmla="val 3103"/>
            </a:avLst>
          </a:prstGeom>
          <a:solidFill>
            <a:srgbClr val="1C7293"/>
          </a:solidFill>
          <a:ln/>
        </p:spPr>
      </p:sp>
      <p:sp>
        <p:nvSpPr>
          <p:cNvPr id="10" name="Shape 7"/>
          <p:cNvSpPr/>
          <p:nvPr/>
        </p:nvSpPr>
        <p:spPr>
          <a:xfrm>
            <a:off x="4361688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dwproj/icons/sync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43" y="211043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30168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pulled from many sources is cleaned and made consistent in naming, units, and format.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45936" y="1691640"/>
            <a:ext cx="2651760" cy="3749040"/>
          </a:xfrm>
          <a:prstGeom prst="roundRect">
            <a:avLst>
              <a:gd name="adj" fmla="val 3103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0336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dwproj/icons/chart_065A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091" y="2110435"/>
            <a:ext cx="625450" cy="625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3096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Time-Variant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528816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historical data, often 5–10 years, enabling trend analysis over time.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44584" y="1691640"/>
            <a:ext cx="2651760" cy="3749040"/>
          </a:xfrm>
          <a:prstGeom prst="roundRect">
            <a:avLst>
              <a:gd name="adj" fmla="val 3103"/>
            </a:avLst>
          </a:prstGeom>
          <a:solidFill>
            <a:srgbClr val="1C729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58984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dwproj/icons/database_1C729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7739" y="2110435"/>
            <a:ext cx="625450" cy="625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Non-Volatile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427464" y="3657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loaded, data is stable: read-only for users, refreshed only through scheduled loads.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data warehouse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246120" cy="27432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51660" y="26517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dwproj/icons/databas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388" y="2761488"/>
            <a:ext cx="694944" cy="694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Tier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ETL / Staging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05072" y="3319272"/>
            <a:ext cx="630936" cy="402336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2148840"/>
            <a:ext cx="3246120" cy="27432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09160" y="2331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75020" y="26517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dwproj/icons/server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2761488"/>
            <a:ext cx="694944" cy="6949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Tier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89204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Server (Analytical Engine)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28432" y="3319272"/>
            <a:ext cx="630936" cy="402336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8" name="Shape 14"/>
          <p:cNvSpPr/>
          <p:nvPr/>
        </p:nvSpPr>
        <p:spPr>
          <a:xfrm>
            <a:off x="8732520" y="2148840"/>
            <a:ext cx="3246120" cy="2743200"/>
          </a:xfrm>
          <a:prstGeom prst="roundRect">
            <a:avLst>
              <a:gd name="adj" fmla="val 3333"/>
            </a:avLst>
          </a:prstGeom>
          <a:solidFill>
            <a:srgbClr val="02C39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732520" y="23317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898380" y="26517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/home/claude/dwproj/icons/desktop_02C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108" y="2761488"/>
            <a:ext cx="694944" cy="6949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32520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Tier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915400" y="41148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Tools (BI, Reports, Dashboards)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85800" y="5212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raw operational data is extracted and staged, transformed and stored for analysis, then delivered to end users through reporting tools.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— Bottom 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staging area, and the warehouse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dwproj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828800" y="1600200"/>
            <a:ext cx="9418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57400" y="1709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57400" y="205740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legacy databases, flat files, web logs, and external/third-party feeds — the raw operational systems of the business.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880360"/>
            <a:ext cx="457200" cy="3657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1828800" y="3291840"/>
            <a:ext cx="9418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5740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057400" y="374904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workspace where the ETL process cleans, validates, and reshapes data before it enters the warehouse.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572000"/>
            <a:ext cx="457200" cy="3657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1828800" y="4983480"/>
            <a:ext cx="9418320" cy="1234440"/>
          </a:xfrm>
          <a:prstGeom prst="roundRect">
            <a:avLst>
              <a:gd name="adj" fmla="val 5926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2057400" y="5093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Database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057400" y="5440680"/>
            <a:ext cx="8961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cleaned, integrated data is loaded and stored here — typically on a relational database tuned for large-scale analytical queries.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— Middle 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OLAP server: turning stored data into analyzable cubes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wproj/icons/serv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0" y="1645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OLAP (Online Analytical Processing) server sits between storage and the user, reorganizing warehouse data into multi-dimensional “cubes” that answer questions fast — by product, region, and time, all at once.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8FA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1089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ROLAP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3749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OLAP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20624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relational database directly. Scales to huge data volumes; slower for complex analysis.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80560" y="28803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8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709160" y="31089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470916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MOLAP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09160" y="3749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Multidimensional OLAP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09160" y="420624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Pre-computes data into cubes for very fast responses; needs more storage and processing upfront.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321040" y="288036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8FA"/>
          </a:solidFill>
          <a:ln/>
        </p:spPr>
      </p:sp>
      <p:sp>
        <p:nvSpPr>
          <p:cNvPr id="19" name="Shape 16"/>
          <p:cNvSpPr/>
          <p:nvPr/>
        </p:nvSpPr>
        <p:spPr>
          <a:xfrm>
            <a:off x="8549640" y="31089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854964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HOLAP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49640" y="3749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OLAP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549640" y="420624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— detailed data stays relational, summaries are pre-aggregated for speed.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— Top 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tools: where users see and act on the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dwproj/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28800" y="16916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tier is the client layer — the tools business users interact with directly to query, visualize, and report on warehouse data.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21295C"/>
          </a:solidFill>
          <a:ln/>
        </p:spPr>
      </p:sp>
      <p:sp>
        <p:nvSpPr>
          <p:cNvPr id="9" name="Shape 6"/>
          <p:cNvSpPr/>
          <p:nvPr/>
        </p:nvSpPr>
        <p:spPr>
          <a:xfrm>
            <a:off x="1508760" y="2971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dwproj/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542" y="3059582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Tools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4526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standardized reports for recurring business needs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47288" y="269748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21295C"/>
          </a:solidFill>
          <a:ln/>
        </p:spPr>
      </p:sp>
      <p:sp>
        <p:nvSpPr>
          <p:cNvPr id="14" name="Shape 10"/>
          <p:cNvSpPr/>
          <p:nvPr/>
        </p:nvSpPr>
        <p:spPr>
          <a:xfrm>
            <a:off x="4407408" y="2971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dwproj/icons/diagra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190" y="3059582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84448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&amp; Analysis Tools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30168" y="4526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SQL or drag-and-drop queries for analysts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345936" y="269748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21295C"/>
          </a:solidFill>
          <a:ln/>
        </p:spPr>
      </p:sp>
      <p:sp>
        <p:nvSpPr>
          <p:cNvPr id="19" name="Shape 14"/>
          <p:cNvSpPr/>
          <p:nvPr/>
        </p:nvSpPr>
        <p:spPr>
          <a:xfrm>
            <a:off x="7306056" y="2971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/home/claude/dwproj/icons/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3838" y="3059582"/>
            <a:ext cx="555955" cy="5559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83096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Mining Tools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528816" y="4526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discovery, forecasting, and predictive models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244584" y="2697480"/>
            <a:ext cx="2651760" cy="3246120"/>
          </a:xfrm>
          <a:prstGeom prst="roundRect">
            <a:avLst>
              <a:gd name="adj" fmla="val 3103"/>
            </a:avLst>
          </a:prstGeom>
          <a:solidFill>
            <a:srgbClr val="21295C"/>
          </a:solidFill>
          <a:ln/>
        </p:spPr>
      </p:sp>
      <p:sp>
        <p:nvSpPr>
          <p:cNvPr id="24" name="Shape 18"/>
          <p:cNvSpPr/>
          <p:nvPr/>
        </p:nvSpPr>
        <p:spPr>
          <a:xfrm>
            <a:off x="10204704" y="2971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/home/claude/dwproj/icons/deskt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2486" y="3059582"/>
            <a:ext cx="555955" cy="5559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81744" y="3886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Dashboards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427464" y="45262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dashboards — Power BI, Tableau, KNIME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The ETL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becomes warehouse-ready information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7B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97380" y="24688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dwproj/icons/database_065A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081" y="2589581"/>
            <a:ext cx="764438" cy="764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57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416052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data from source systems — databases, files, APIs — without altering the originals.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078224" y="3474720"/>
            <a:ext cx="576072" cy="365760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196596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9204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7B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829300" y="24688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home/claude/dwproj/icons/sync_1C72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01" y="2589581"/>
            <a:ext cx="764438" cy="7644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657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983480" y="416052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standardize, deduplicate, and convert data into the warehouse’s common format and structure.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10144" y="3474720"/>
            <a:ext cx="576072" cy="365760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8" name="Shape 14"/>
          <p:cNvSpPr/>
          <p:nvPr/>
        </p:nvSpPr>
        <p:spPr>
          <a:xfrm>
            <a:off x="8641080" y="196596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02C39A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82396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7B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9761220" y="24688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/home/claude/dwproj/icons/server_02C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921" y="2589581"/>
            <a:ext cx="764438" cy="7644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41080" y="36576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915400" y="416052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transformed data into the warehouse, either in full batches or incrementally.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77240" y="5532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typically runs on a schedule (nightly, hourly) or continuously as micro-batches for near-real-time warehouses.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Data Marts &amp; Metadata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subsets, and the data that describes the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dwproj/icons/cube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470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Marts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mart is a smaller, subject-specific subset of the data warehouse — built for one department or function.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31720" y="33832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531620" y="384048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43434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3434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994660" y="384048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7440" y="43434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2377440" y="43434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57700" y="3840480"/>
            <a:ext cx="0" cy="5029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43434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3840480" y="43434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5029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marts are carved from the central warehouse, keeping every department consistent with one source of truth.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22" name="Shape 19"/>
          <p:cNvSpPr/>
          <p:nvPr/>
        </p:nvSpPr>
        <p:spPr>
          <a:xfrm>
            <a:off x="6583680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1" descr="/home/claude/dwproj/icons/info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1905610"/>
            <a:ext cx="486461" cy="48646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06640" y="1847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583680" y="26060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about data.” Metadata describes the structure, source, meaning, and lineage of everything stored in the warehouse.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83680" y="35295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34015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metadata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812280" y="36941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structures, data types, ETL mapping rules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583680" y="43068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6"/>
          <p:cNvSpPr/>
          <p:nvPr/>
        </p:nvSpPr>
        <p:spPr>
          <a:xfrm>
            <a:off x="6812280" y="41788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metadata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812280" y="44714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ownership, business rules in plain language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583680" y="508406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29"/>
          <p:cNvSpPr/>
          <p:nvPr/>
        </p:nvSpPr>
        <p:spPr>
          <a:xfrm>
            <a:off x="6812280" y="49560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metadata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812280" y="52486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times, data freshness, audit and error logs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in Decision-Making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invest in a data warehouse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dwproj/icons/cha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199705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Source of Truth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conflicting reports by giving every team the same integrated numbers.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dwproj/icons/bul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810" y="199705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928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Insight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0" y="26060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Pre-aggregated, indexed data means analysts get answers in seconds, not days.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dwproj/icons/sync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570" y="199705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8928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&amp; Historical Analysis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66760" y="26060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consistent history reveal seasonality, growth, and long-term shifts.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dwproj/icons/bulls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50" y="423733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330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Strategic Planning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base decisions on complete, cross-department context.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/home/claude/dwproj/icons/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810" y="4237330"/>
            <a:ext cx="486461" cy="4864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1330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Data Quality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validation catches errors before they reach decision-makers.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1605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/home/claude/dwproj/icons/clou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3570" y="4237330"/>
            <a:ext cx="486461" cy="4864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330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Self-Service BI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66760" y="48463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warehouses let more users explore data without IT bottlenecks.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Spotlight: KNIME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platform for building ETL and analytics workflows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wproj/icons/tool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83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drag-and-drop workflows for the entire ETL and analysis pipeline — no heavy coding required.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651760"/>
            <a:ext cx="1737360" cy="6858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51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96312" y="2898648"/>
            <a:ext cx="265176" cy="201168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2651760"/>
            <a:ext cx="1737360" cy="6858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2788920" y="2651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53712" y="2898648"/>
            <a:ext cx="265176" cy="201168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2651760"/>
            <a:ext cx="1737360" cy="6858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651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1112" y="2898648"/>
            <a:ext cx="265176" cy="201168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6" name="Shape 13"/>
          <p:cNvSpPr/>
          <p:nvPr/>
        </p:nvSpPr>
        <p:spPr>
          <a:xfrm>
            <a:off x="6903720" y="2651760"/>
            <a:ext cx="1737360" cy="6858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2651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68512" y="2898648"/>
            <a:ext cx="265176" cy="201168"/>
          </a:xfrm>
          <a:prstGeom prst="rightArrow">
            <a:avLst/>
          </a:prstGeom>
          <a:solidFill>
            <a:srgbClr val="5A6B85"/>
          </a:solidFill>
          <a:ln/>
        </p:spPr>
      </p:sp>
      <p:sp>
        <p:nvSpPr>
          <p:cNvPr id="19" name="Shape 16"/>
          <p:cNvSpPr/>
          <p:nvPr/>
        </p:nvSpPr>
        <p:spPr>
          <a:xfrm>
            <a:off x="8961120" y="2651760"/>
            <a:ext cx="1737360" cy="6858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20" name="Text 17"/>
          <p:cNvSpPr/>
          <p:nvPr/>
        </p:nvSpPr>
        <p:spPr>
          <a:xfrm>
            <a:off x="8961120" y="26517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Chart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10698480" cy="1828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Presentation's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Reader node ingests CSV / database source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and Joiner nodes clean rows and merge multiple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&amp; Analyze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node summarizes; BI Chart node visualizes the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workflows can be built in Power BI, Tableau, or SSIS — the underlying ETL logic stays the same.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Data Warehouse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future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647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1848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warehouse centralizes and organizes data from across the business for analysis, not transactions.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4505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0428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three-tier architecture — sources/staging, OLAP server, front-end tools — moves data from raw to actionable.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1363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9008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(Extract, Transform, Load) is the engine that keeps the warehouse accurate and current.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8221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7588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marts and metadata make the warehouse usable at both the department and enterprise level.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691640"/>
            <a:ext cx="3977640" cy="4114800"/>
          </a:xfrm>
          <a:prstGeom prst="roundRect">
            <a:avLst>
              <a:gd name="adj" fmla="val 2069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8120" y="1920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/home/claude/dwproj/icons/bulb_1C7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4930" y="1997050"/>
            <a:ext cx="486461" cy="48646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95360" y="19385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818120" y="2697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warehouses (Snowflake, BigQuery, Redshift) for elastic scale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818120" y="34747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/ streaming ETL replacing nightly batch loads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18120" y="4251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analytics embedded directly in BI tools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50292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lakehouses blending warehouse structure with data-lake flexibility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1282</Words>
  <Application>Microsoft Office PowerPoint</Application>
  <PresentationFormat>Widescreen</PresentationFormat>
  <Paragraphs>196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challagali praveen</cp:lastModifiedBy>
  <cp:revision>2</cp:revision>
  <dcterms:created xsi:type="dcterms:W3CDTF">2026-07-28T02:51:38Z</dcterms:created>
  <dcterms:modified xsi:type="dcterms:W3CDTF">2026-08-06T03:41:43Z</dcterms:modified>
</cp:coreProperties>
</file>